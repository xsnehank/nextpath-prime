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NextPath turns a student's strengths, the family's budget and job-market data into one ranked, affordable plan both sides agree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decide a good career choice, and today nobody looks at them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flow: student, then parent with the invite code, then the shared plan once both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live app. The five tabs are the whole dashboard; the sliders re-rank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layers, each owned by one person, joined by a generated OpenAPI contract. Only the backend touches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Likert answers become 0-1 by (mean - 1) / 4; graded questions become the share answered correctly. The two scales are never mixed.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Pure, deterministic functions with unit tests that show the arithmetic. No randomness and no AI in the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path gets a yes or no with reasons, and a cheaper option in the same area when one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market data is national for now and marked estimated; every figure carries its source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index is the mean of four gaps from 0 (agree) to 1 (fully apart), times 100. Labels: under 30 low, 30-60 moderate, over 60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counts come from the catalog build, the API contract and the test run on 8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can verify everything: formulas in docs/backend-guide.md, tests in backend/tests, SQL checks in db/tests.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limits before the judges find them; each has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live link and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371600"/>
            <a:ext cx="1097280" cy="508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EEEEE8"/>
                </a:solidFill>
                <a:latin typeface="Calibri"/>
              </a:rPr>
              <a:t>Next</a:t>
            </a:r>
            <a:r>
              <a:rPr sz="7200" b="1">
                <a:solidFill>
                  <a:srgbClr val="D4FF3A"/>
                </a:solidFill>
                <a:latin typeface="Calibri"/>
              </a:rPr>
              <a:t>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EEEEE8"/>
                </a:solidFill>
                <a:latin typeface="Calibri"/>
              </a:rPr>
              <a:t>PRISM Engine: a career plan the whole family agrees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C9D95"/>
                </a:solidFill>
                <a:latin typeface="Calibri"/>
              </a:rPr>
              <a:t>The student's strengths, the family's budget and real job-market data, combined into one ranked, affordable career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Team Keyboard Warriors   ·   DataQuest 3.0   ·   Problem DQNM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FF3A"/>
                </a:solidFill>
                <a:latin typeface="Consolas"/>
              </a:rPr>
              <a:t>nextpath-prism.vercel.app   ·   github.com/xSnehank/prism-engine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Career choice in Indian families is a guess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Aptitude is ignored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063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Choices follow marks, peers or what relatives did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A student's real strengths and interests are rarely measured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Money comes up too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Fees, living costs and loans are checked after the choice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Families find out a path is unaffordable when it is too 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Parents and students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06040"/>
            <a:ext cx="3063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Each side argues from its own view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No one can see where the gap actually is, or how big it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FF3A"/>
                </a:solidFill>
                <a:latin typeface="Calibri"/>
              </a:rPr>
              <a:t>PRISM looks at all three at once: fit, finance and market, for both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Three steps, one shared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1 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063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Picks their Class 11-12 stream (PCM, PCB, PCMB, Commerce, Arts or not decided) and a few preferences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Answers 33 questions: 23 statements (1-5) and 10 graded aptitude questions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Gets an invite code for a parent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2  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063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Joins with the code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Enters budget, savings, the largest loan, years to recover the cost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Ranks their top 3 career 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9202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3 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606040"/>
            <a:ext cx="3063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Both agree to share the comparison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Ranked careers with fit, cost, loan, payback, demand and pay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•  </a:t>
            </a:r>
            <a:r>
              <a:rPr sz="1600" b="0">
                <a:solidFill>
                  <a:srgbClr val="EEEEE8"/>
                </a:solidFill>
                <a:latin typeface="Calibri"/>
              </a:rPr>
              <a:t>Exams, colleges, scholarships and where they disagree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Every input has a hover hint that explains what it is used for. Light and dark themes.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What the family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D0E10"/>
                </a:solidFill>
                <a:latin typeface="Calibri"/>
              </a:rPr>
              <a:t>Careers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8778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Ranked list from the student's own stream first, with score, affordability and demand. Detail: path, exams, colleges by NIRF tier, scholarships and an explanation.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15184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15184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D0E10"/>
                </a:solidFill>
                <a:latin typeface="Calibri"/>
              </a:rP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15184"/>
            <a:ext cx="8778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Conflict gauge (0-100) with the three biggest disagreements, and the student's strengths radar.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01568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D0E10"/>
                </a:solidFill>
                <a:latin typeface="Calibri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01568"/>
            <a:ext cx="8778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Total cost, what the family can pay, the loan needed and the payback time for every career.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87952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D0E10"/>
                </a:solidFill>
                <a:latin typeface="Calibri"/>
              </a:rPr>
              <a:t>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87952"/>
            <a:ext cx="8778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Hiring demand, starting and typical pay and growth, with the source and 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74336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74336"/>
            <a:ext cx="201168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D0E10"/>
                </a:solidFill>
                <a:latin typeface="Calibri"/>
              </a:rPr>
              <a:t>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974336"/>
            <a:ext cx="8778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SWOT built from the scores: strengths, things to work on, opportunities and risks.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EE8"/>
                </a:solidFill>
                <a:latin typeface="Calibri"/>
              </a:rPr>
              <a:t>"Adjust priorities" sliders </a:t>
            </a:r>
            <a:r>
              <a:rPr sz="1500" b="0">
                <a:solidFill>
                  <a:srgbClr val="9C9D95"/>
                </a:solidFill>
                <a:latin typeface="Calibri"/>
              </a:rPr>
              <a:t>re-weight fit, affordability and demand and re-rank live.   </a:t>
            </a:r>
            <a:r>
              <a:rPr sz="1500" b="1">
                <a:solidFill>
                  <a:srgbClr val="EEEEE8"/>
                </a:solidFill>
                <a:latin typeface="Calibri"/>
              </a:rPr>
              <a:t>PDF export</a:t>
            </a:r>
            <a:r>
              <a:rPr sz="1500" b="0">
                <a:solidFill>
                  <a:srgbClr val="9C9D95"/>
                </a:solidFill>
                <a:latin typeface="Calibri"/>
              </a:rPr>
              <a:t> of the whole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Student / Parent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9D95"/>
                </a:solidFill>
                <a:latin typeface="Calibri"/>
              </a:rPr>
              <a:t>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7889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862072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Next.js 16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24612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9D95"/>
                </a:solidFill>
                <a:latin typeface="Calibri"/>
              </a:rPr>
              <a:t>Vercel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7889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862072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D0E10"/>
                </a:solidFill>
                <a:latin typeface="Calibri"/>
              </a:rPr>
              <a:t>FastAPI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0D0E10"/>
                </a:solidFill>
                <a:latin typeface="Calibri"/>
              </a:rPr>
              <a:t>Vercel Functions · Mumbai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7889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862072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24612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9D95"/>
                </a:solidFill>
                <a:latin typeface="Calibri"/>
              </a:rPr>
              <a:t>Supabase · RLS on every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764792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Supabase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4884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9D95"/>
                </a:solidFill>
                <a:latin typeface="Calibri"/>
              </a:rPr>
              <a:t>sign-up · sign-in · token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434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416552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Gemini (optional)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C9D95"/>
                </a:solidFill>
                <a:latin typeface="Calibri"/>
              </a:rPr>
              <a:t>rewords explanations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71800" y="3223260"/>
            <a:ext cx="274320" cy="0"/>
          </a:xfrm>
          <a:prstGeom prst="line">
            <a:avLst/>
          </a:prstGeom>
          <a:ln w="22225">
            <a:solidFill>
              <a:srgbClr val="9C9D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77840" y="3223260"/>
            <a:ext cx="685800" cy="0"/>
          </a:xfrm>
          <a:prstGeom prst="line">
            <a:avLst/>
          </a:prstGeom>
          <a:ln w="22225">
            <a:solidFill>
              <a:srgbClr val="9C9D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95360" y="3223260"/>
            <a:ext cx="685800" cy="0"/>
          </a:xfrm>
          <a:prstGeom prst="line">
            <a:avLst/>
          </a:prstGeom>
          <a:ln w="22225">
            <a:solidFill>
              <a:srgbClr val="9C9D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29500" y="2560320"/>
            <a:ext cx="0" cy="228600"/>
          </a:xfrm>
          <a:prstGeom prst="line">
            <a:avLst/>
          </a:prstGeom>
          <a:ln w="22225">
            <a:solidFill>
              <a:srgbClr val="9C9D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29500" y="3657600"/>
            <a:ext cx="0" cy="685800"/>
          </a:xfrm>
          <a:prstGeom prst="line">
            <a:avLst/>
          </a:prstGeom>
          <a:ln w="22225">
            <a:solidFill>
              <a:srgbClr val="9C9D9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4FF3A"/>
                </a:solidFill>
                <a:latin typeface="Calibri"/>
              </a:rPr>
              <a:t>•  </a:t>
            </a:r>
            <a:r>
              <a:rPr sz="1400" b="0">
                <a:solidFill>
                  <a:srgbClr val="9C9D95"/>
                </a:solidFill>
                <a:latin typeface="Calibri"/>
              </a:rPr>
              <a:t>Contract: backend/openapi/openapi.json, 15 endpoints, generated from Pydantic models and checked by tests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D4FF3A"/>
                </a:solidFill>
                <a:latin typeface="Calibri"/>
              </a:rPr>
              <a:t>•  </a:t>
            </a:r>
            <a:r>
              <a:rPr sz="1400" b="0">
                <a:solidFill>
                  <a:srgbClr val="9C9D95"/>
                </a:solidFill>
                <a:latin typeface="Calibri"/>
              </a:rPr>
              <a:t>Python 3.12+ · FastAPI · Pydantic v2 · SQLAlchemy 2 · psycopg 3 · NumPy  |  Next.js 16 · React · Tailwind v4 · Recharts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MEASURING THE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The assessment: 33 questions, 13 traits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Aptitude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063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logical · numerical · verbal · spatial · creative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10 graded multiple-choice questions plus statements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063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realistic · investigative · artistic · social · enterprising · conventional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Holland (RIASEC) interest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92024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10312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Cognitive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606040"/>
            <a:ext cx="30632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EEEE8"/>
                </a:solidFill>
                <a:latin typeface="Calibri"/>
              </a:rPr>
              <a:t>analytical · structured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How the student prefers to think and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27080" cy="146304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424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9D95"/>
                </a:solidFill>
                <a:latin typeface="Calibri"/>
              </a:rPr>
              <a:t>Likert trait  </a:t>
            </a:r>
            <a:r>
              <a:rPr sz="1800" b="0">
                <a:solidFill>
                  <a:srgbClr val="D4FF3A"/>
                </a:solidFill>
                <a:latin typeface="Consolas"/>
              </a:rPr>
              <a:t>t = (mean answer - 1) / 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C9D95"/>
                </a:solidFill>
                <a:latin typeface="Calibri"/>
              </a:rPr>
              <a:t>Graded trait  </a:t>
            </a:r>
            <a:r>
              <a:rPr sz="1800" b="0">
                <a:solidFill>
                  <a:srgbClr val="D4FF3A"/>
                </a:solidFill>
                <a:latin typeface="Consolas"/>
              </a:rPr>
              <a:t>t = share of questions answered correctly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Reverse-scored statements are flipped (6 - x); a trait with no answers is flagged incomplete, never guessed.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THE 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How careers are ranked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270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D0E10"/>
                </a:solidFill>
                <a:latin typeface="Consolas"/>
              </a:rPr>
              <a:t>R = 0.45·Fit + 0.30·Finance + 0.25·Market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Fit 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0.5 aptitude + 0.3 interest + 0.2 cognitive style, using each career's own trait weights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0175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Finance 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03320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0.5 min(1, capacity / cost) + 0.3 loan within limit + 0.2 payback within tolerance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0175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2004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Market 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703320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EEEE8"/>
                </a:solidFill>
                <a:latin typeface="Calibri"/>
              </a:rPr>
              <a:t>0.5 demand + 0.3 growth + 0.2 salary percentile, each min-max scaled across careers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Own-stream careers always rank first: a PCM student never sees CA or BBA above an engineering career; careers they can't enter are left out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Weights must sum to 1 (else a 422 error); the sliders re-rank. Affordable first, then fit, market and id break 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CAN THE FAMILY AFFORD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The financial constraint 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03504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5778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C9D95"/>
                </a:solidFill>
                <a:latin typeface="Consolas"/>
              </a:rPr>
              <a:t>cost      </a:t>
            </a:r>
            <a:r>
              <a:rPr sz="1600" b="0">
                <a:solidFill>
                  <a:srgbClr val="EEEEE8"/>
                </a:solidFill>
                <a:latin typeface="Consolas"/>
              </a:rPr>
              <a:t>= (fee + living) × years − scholarships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C9D95"/>
                </a:solidFill>
                <a:latin typeface="Consolas"/>
              </a:rPr>
              <a:t>          </a:t>
            </a:r>
            <a:r>
              <a:rPr sz="1300" b="0">
                <a:solidFill>
                  <a:srgbClr val="9C9D95"/>
                </a:solidFill>
                <a:latin typeface="Calibri"/>
              </a:rPr>
              <a:t>at a typical college: the median fee, in your state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C9D95"/>
                </a:solidFill>
                <a:latin typeface="Consolas"/>
              </a:rPr>
              <a:t>capacity  </a:t>
            </a:r>
            <a:r>
              <a:rPr sz="1600" b="0">
                <a:solidFill>
                  <a:srgbClr val="EEEEE8"/>
                </a:solidFill>
                <a:latin typeface="Consolas"/>
              </a:rPr>
              <a:t>= yearly budget × years + savings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C9D95"/>
                </a:solidFill>
                <a:latin typeface="Consolas"/>
              </a:rPr>
              <a:t>loan      </a:t>
            </a:r>
            <a:r>
              <a:rPr sz="1600" b="0">
                <a:solidFill>
                  <a:srgbClr val="EEEEE8"/>
                </a:solidFill>
                <a:latin typeface="Consolas"/>
              </a:rPr>
              <a:t>= max(0, cost − capacity)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C9D95"/>
                </a:solidFill>
                <a:latin typeface="Consolas"/>
              </a:rPr>
              <a:t>payback   </a:t>
            </a:r>
            <a:r>
              <a:rPr sz="1600" b="0">
                <a:solidFill>
                  <a:srgbClr val="EEEEE8"/>
                </a:solidFill>
                <a:latin typeface="Consolas"/>
              </a:rPr>
              <a:t>= cost ÷ (salary − living)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EEEE8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EEEE8"/>
                </a:solidFill>
                <a:latin typeface="Calibri"/>
              </a:rPr>
              <a:t>Affordable only if </a:t>
            </a:r>
            <a:r>
              <a:rPr sz="1600" b="1">
                <a:solidFill>
                  <a:srgbClr val="D4FF3A"/>
                </a:solidFill>
                <a:latin typeface="Calibri"/>
              </a:rPr>
              <a:t>loan ≤ the family's limit</a:t>
            </a:r>
            <a:r>
              <a:rPr sz="1600" b="0">
                <a:solidFill>
                  <a:srgbClr val="EEEEE8"/>
                </a:solidFill>
                <a:latin typeface="Calibri"/>
              </a:rPr>
              <a:t> and </a:t>
            </a:r>
            <a:r>
              <a:rPr sz="1600" b="1">
                <a:solidFill>
                  <a:srgbClr val="D4FF3A"/>
                </a:solidFill>
                <a:latin typeface="Calibri"/>
              </a:rPr>
              <a:t>payback ≤ their tolerance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28800"/>
            <a:ext cx="466344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What the family 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14600"/>
            <a:ext cx="4206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Total cost, what they can pay, the loan and the payback years for every career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The reason a path fails, for example the loan is above their limit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A cheaper alternative in the same career area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Scholarships cut the cost only when the family meets every rule (income, category, state, marks, gender)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Money is whole rupees end to end. The parent's numbers are never shown to the student.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IS THERE WORK AT THE 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Job-market data with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Three signals per career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4632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Hiring demand: ManpowerGroup Employment Outlook, India, Q4 2026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Hiring growth: Naukri JobSpeak, August 2026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Starting and typical pay: PayScale India (profile counts kept with each figure)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5B74A"/>
                </a:solidFill>
                <a:latin typeface="Calibri"/>
              </a:rPr>
              <a:t>Kept honest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93776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Every figure stores source, link and date, or is flagged estimated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Small samples are labelled (for example 9 profiles for policy analysts)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Defence pay comes from the UPSC NDA notice, as no market survey covers it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When a state has no data, the national figure is used and flagged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CONFLICT INDEX AND CONSENT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Where the family disagrees, privately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Career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1488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EE8"/>
                </a:solidFill>
                <a:latin typeface="Calibri"/>
              </a:rPr>
              <a:t>Student's top 3 by fit vs parent's ranked top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14600"/>
            <a:ext cx="21488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EE8"/>
                </a:solidFill>
                <a:latin typeface="Calibri"/>
              </a:rPr>
              <a:t>|student risk − parent risk| /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514600"/>
            <a:ext cx="21488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EE8"/>
                </a:solidFill>
                <a:latin typeface="Calibri"/>
              </a:rPr>
              <a:t>Same state and abroad choice = 0, one differs = 0.5, both 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828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201168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514600"/>
            <a:ext cx="21488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EE8"/>
                </a:solidFill>
                <a:latin typeface="Calibri"/>
              </a:rPr>
              <a:t>Top path's cost above the family's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4FF3A"/>
                </a:solidFill>
                <a:latin typeface="Calibri"/>
              </a:rPr>
              <a:t>Conflict index = 100 × average of the four gaps, with the three biggest explained in plain 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27080" cy="178308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469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Privacy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46988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Nothing is compared until both student and parent agree; either can withdraw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The parent's budget, savings and loan limit, and the student's raw answers, are never shown to the other person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Row-level security on every table; the browser only talks to our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REAL,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assessment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3852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60604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traits 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193852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60604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careers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82880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4544" y="193852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260604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Class 11-12 streams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degree programmes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329184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40156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355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06908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colleges in 3 NIRF tiers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29184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340156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2,811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406908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college 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4544" y="329184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24544" y="340156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4" y="406908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career areas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548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86460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API 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01568" y="47548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486460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161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55321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backend tests passing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47548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486460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55321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database tables, RLS on 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24544" y="47548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4864608"/>
            <a:ext cx="26060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FF3A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544" y="55321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C9D95"/>
                </a:solidFill>
                <a:latin typeface="Calibri"/>
              </a:rPr>
              <a:t>AI in the ranking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ENGINEERING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Built to be checked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Scoring lives in pure functions: no database, network or randomness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Unit tests with the arithmetic worked by hand, including edge cases (equal answers, zero savings, no affordable career)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The OpenAPI contract is regenerated and diffed in tests, so the frontend never drifts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SQL tests for constraints, RLS, sign-up triggers and seeds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9377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One error shape everywhere, never echoing submitted values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Answers, incomes, tokens and keys are never logged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Gemini only rewords explanations, always with a template fallback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Secrets only in Vercel and local .env files, never in 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Honest limits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5B74A"/>
                </a:solidFill>
                <a:latin typeface="Calibri"/>
              </a:rPr>
              <a:t>Limits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Market data is national, not per state, and marked estimated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68 of 355 colleges have an official fee document; the rest are portal figures or group estimates, all flagged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Living cost is a national per-capita average, so payback times look optimistic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NDA, Environmental Science and Sports have fewer than 3 college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93776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Verify every college fee from official fee notices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At least 3 degree routes for every career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State-level demand and living-cost data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D4FF3A"/>
                </a:solidFill>
                <a:latin typeface="Calibri"/>
              </a:rPr>
              <a:t>•  </a:t>
            </a:r>
            <a:r>
              <a:rPr sz="1500" b="0">
                <a:solidFill>
                  <a:srgbClr val="EEEEE8"/>
                </a:solidFill>
                <a:latin typeface="Calibri"/>
              </a:rPr>
              <a:t>Tier 3 fees from each state's fee regulator (Maharashtra FRA, TAFRC)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EEEE8"/>
                </a:solidFill>
                <a:latin typeface="Calibri"/>
              </a:rPr>
              <a:t>Team Keyboard Warriors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38100"/>
          </a:xfrm>
          <a:prstGeom prst="rect">
            <a:avLst/>
          </a:prstGeom>
          <a:solidFill>
            <a:srgbClr val="D4F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NextPath · PRISM Engine   |   Keyboard Warriors · DataQuest 3.0 · DQNM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C9D95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Snehank Labade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148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C9D95"/>
                </a:solidFill>
                <a:latin typeface="Calibri"/>
              </a:rPr>
              <a:t>Backend, database, repo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0312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Aayush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606040"/>
            <a:ext cx="2148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C9D95"/>
                </a:solidFill>
                <a:latin typeface="Calibri"/>
              </a:rPr>
              <a:t>Complete 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10312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Eklavya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606040"/>
            <a:ext cx="2148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C9D95"/>
                </a:solidFill>
                <a:latin typeface="Calibri"/>
              </a:rPr>
              <a:t>Documentation and 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920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1618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2103120"/>
            <a:ext cx="2148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FF3A"/>
                </a:solidFill>
                <a:latin typeface="Calibri"/>
              </a:rPr>
              <a:t>Joel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606040"/>
            <a:ext cx="2148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C9D95"/>
                </a:solidFill>
                <a:latin typeface="Calibri"/>
              </a:rPr>
              <a:t>Database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D4FF3A"/>
                </a:solidFill>
                <a:latin typeface="Consolas"/>
              </a:rPr>
              <a:t>Try it:  nextpath-prism.vercel.app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EEEE8"/>
                </a:solidFill>
                <a:latin typeface="Consolas"/>
              </a:rPr>
              <a:t>Code:  github.com/xSnehank/prism-engine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